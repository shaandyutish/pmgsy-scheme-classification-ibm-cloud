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9"/>
  </p:notesMasterIdLst>
  <p:sldIdLst>
    <p:sldId id="256" r:id="rId5"/>
    <p:sldId id="2146847054" r:id="rId6"/>
    <p:sldId id="262" r:id="rId7"/>
    <p:sldId id="263" r:id="rId8"/>
    <p:sldId id="265" r:id="rId9"/>
    <p:sldId id="266" r:id="rId10"/>
    <p:sldId id="267" r:id="rId11"/>
    <p:sldId id="268" r:id="rId12"/>
    <p:sldId id="2146847055" r:id="rId13"/>
    <p:sldId id="269" r:id="rId14"/>
    <p:sldId id="2146847056" r:id="rId15"/>
    <p:sldId id="2146847057" r:id="rId16"/>
    <p:sldId id="2146847058" r:id="rId17"/>
    <p:sldId id="21468470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F0957A-DCF6-4ED8-B73D-92770BEBEAD7}" v="1" dt="2026-02-07T07:18:35.455"/>
    <p1510:client id="{E29129F7-C0C6-4F2F-8086-0DD3D166D5A3}" v="42" dt="2026-02-07T07:16:44.0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2/7/2026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2/7/2026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2/7/2026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2/7/2026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2/7/2026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2/7/2026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2/7/2026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17529" y="4586365"/>
            <a:ext cx="8366548" cy="70788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a:solidFill>
                  <a:schemeClr val="accent1">
                    <a:lumMod val="75000"/>
                  </a:schemeClr>
                </a:solidFill>
                <a:latin typeface="Arial"/>
                <a:cs typeface="Arial"/>
              </a:rPr>
              <a:t>1. Dyutishmaan Das-Haridwar University-B.TECH CSE with AI &amp; ML</a:t>
            </a:r>
          </a:p>
        </p:txBody>
      </p:sp>
      <p:sp>
        <p:nvSpPr>
          <p:cNvPr id="6" name="TextBox 5">
            <a:extLst>
              <a:ext uri="{FF2B5EF4-FFF2-40B4-BE49-F238E27FC236}">
                <a16:creationId xmlns:a16="http://schemas.microsoft.com/office/drawing/2014/main" id="{205EC92F-65E5-57D8-7757-81FF3E52F8EA}"/>
              </a:ext>
            </a:extLst>
          </p:cNvPr>
          <p:cNvSpPr txBox="1"/>
          <p:nvPr/>
        </p:nvSpPr>
        <p:spPr>
          <a:xfrm>
            <a:off x="445384" y="1117473"/>
            <a:ext cx="11301232" cy="2308324"/>
          </a:xfrm>
          <a:prstGeom prst="rect">
            <a:avLst/>
          </a:prstGeom>
          <a:effectLst/>
        </p:spPr>
        <p:txBody>
          <a:bodyPr vert="horz" lIns="91440" tIns="45720" rIns="91440" bIns="45720" rtlCol="0" anchor="ctr">
            <a:normAutofit/>
          </a:bodyPr>
          <a:lstStyle>
            <a:lvl1pPr algn="ctr" defTabSz="457200">
              <a:lnSpc>
                <a:spcPct val="100000"/>
              </a:lnSpc>
              <a:spcBef>
                <a:spcPct val="0"/>
              </a:spcBef>
              <a:buNone/>
              <a:defRPr sz="3600" b="1" cap="all">
                <a:solidFill>
                  <a:schemeClr val="accent1"/>
                </a:solidFill>
                <a:latin typeface="Arial"/>
                <a:ea typeface="+mj-ea"/>
                <a:cs typeface="Aria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dirty="0"/>
              <a:t>Intelligent Classification of Rural Infrastructure Projects under PMGSY</a:t>
            </a:r>
            <a:endParaRPr lang="en-IN" dirty="0"/>
          </a:p>
        </p:txBody>
      </p:sp>
      <p:sp>
        <p:nvSpPr>
          <p:cNvPr id="10" name="TextBox 9">
            <a:extLst>
              <a:ext uri="{FF2B5EF4-FFF2-40B4-BE49-F238E27FC236}">
                <a16:creationId xmlns:a16="http://schemas.microsoft.com/office/drawing/2014/main" id="{12359B7D-0CC6-6487-89EF-2051B766F87C}"/>
              </a:ext>
            </a:extLst>
          </p:cNvPr>
          <p:cNvSpPr txBox="1"/>
          <p:nvPr/>
        </p:nvSpPr>
        <p:spPr>
          <a:xfrm>
            <a:off x="1943100" y="825085"/>
            <a:ext cx="8305799" cy="584775"/>
          </a:xfrm>
          <a:prstGeom prst="rect">
            <a:avLst/>
          </a:prstGeom>
          <a:noFill/>
        </p:spPr>
        <p:txBody>
          <a:bodyPr wrap="square" lIns="91440" tIns="45720" rIns="91440" bIns="45720" rtlCol="0" anchor="t">
            <a:spAutoFit/>
          </a:bodyPr>
          <a:lstStyle>
            <a:defPPr>
              <a:defRPr lang="en-US"/>
            </a:defPPr>
            <a:lvl1pPr algn="ctr">
              <a:defRPr sz="3200" b="1">
                <a:solidFill>
                  <a:schemeClr val="accent1">
                    <a:lumMod val="75000"/>
                  </a:schemeClr>
                </a:solidFill>
                <a:latin typeface="Arial"/>
                <a:cs typeface="Arial"/>
              </a:defRPr>
            </a:lvl1pPr>
          </a:lstStyle>
          <a:p>
            <a:r>
              <a:rPr lang="en-IN" dirty="0"/>
              <a:t>CAPSTONE PROJECT</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(Output Image)</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buNone/>
            </a:pPr>
            <a:r>
              <a:rPr lang="en-US" sz="2400" dirty="0">
                <a:solidFill>
                  <a:srgbClr val="0F0F0F"/>
                </a:solidFill>
                <a:ea typeface="+mn-lt"/>
                <a:cs typeface="+mn-lt"/>
              </a:rPr>
              <a:t>The Pradhan Mantri Gram Sadak Yojana (PMGSY) is made up of several schemes, including PMGSY-I, PMGSY-II, and RCPLWEA. Each scheme has its own goals, financing sources, and methods of </a:t>
            </a:r>
            <a:r>
              <a:rPr lang="en-US" sz="2400" dirty="0" err="1">
                <a:solidFill>
                  <a:srgbClr val="0F0F0F"/>
                </a:solidFill>
                <a:ea typeface="+mn-lt"/>
                <a:cs typeface="+mn-lt"/>
              </a:rPr>
              <a:t>implementation.As</a:t>
            </a:r>
            <a:r>
              <a:rPr lang="en-US" sz="2400" dirty="0">
                <a:solidFill>
                  <a:srgbClr val="0F0F0F"/>
                </a:solidFill>
                <a:ea typeface="+mn-lt"/>
                <a:cs typeface="+mn-lt"/>
              </a:rPr>
              <a:t> thousands of rural road and bridge projects are approved and carried out throughout India, it becomes laborious, prone to mistakes, and inefficient to manually classify each project under the appropriate PMGSY </a:t>
            </a:r>
            <a:r>
              <a:rPr lang="en-US" sz="2400" dirty="0" err="1">
                <a:solidFill>
                  <a:srgbClr val="0F0F0F"/>
                </a:solidFill>
                <a:ea typeface="+mn-lt"/>
                <a:cs typeface="+mn-lt"/>
              </a:rPr>
              <a:t>scheme.Misclassification</a:t>
            </a:r>
            <a:r>
              <a:rPr lang="en-US" sz="2400" dirty="0">
                <a:solidFill>
                  <a:srgbClr val="0F0F0F"/>
                </a:solidFill>
                <a:ea typeface="+mn-lt"/>
                <a:cs typeface="+mn-lt"/>
              </a:rPr>
              <a:t> can cause problems with impact assessment, budget misallocation, and monitoring.</a:t>
            </a:r>
            <a:endParaRPr lang="en-IN" sz="24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r>
              <a:rPr lang="en-US" sz="1800" dirty="0"/>
              <a:t>The proposed solution focuses on making the classification of PMGSY infrastructure projects </a:t>
            </a:r>
            <a:r>
              <a:rPr lang="en-US" sz="1800" b="1" dirty="0"/>
              <a:t>simple, fast, and reliable</a:t>
            </a:r>
            <a:r>
              <a:rPr lang="en-US" sz="1800" dirty="0"/>
              <a:t> using machine learning on IBM Cloud.</a:t>
            </a:r>
          </a:p>
          <a:p>
            <a:r>
              <a:rPr lang="en-US" sz="1800" dirty="0"/>
              <a:t>Instead of manually analyzing each rural road or bridge project, this system learns from past PMGSY project data and automatically identifies the correct scheme under which a project belongs. The model is trained using key project details such as road length, sanctioned cost, funding distribution, and year of approval.</a:t>
            </a:r>
          </a:p>
          <a:p>
            <a:r>
              <a:rPr lang="en-US" sz="1800" dirty="0"/>
              <a:t>Using </a:t>
            </a:r>
            <a:r>
              <a:rPr lang="en-US" sz="1800" b="1" dirty="0"/>
              <a:t>IBM Watsonx.ai Studio and </a:t>
            </a:r>
            <a:r>
              <a:rPr lang="en-US" sz="1800" b="1" dirty="0" err="1"/>
              <a:t>AutoAI</a:t>
            </a:r>
            <a:r>
              <a:rPr lang="en-US" sz="1800" dirty="0"/>
              <a:t>, the dataset is uploaded and the model is trained without complex manual coding. </a:t>
            </a:r>
            <a:r>
              <a:rPr lang="en-US" sz="1800" dirty="0" err="1"/>
              <a:t>AutoAI</a:t>
            </a:r>
            <a:r>
              <a:rPr lang="en-US" sz="1800" dirty="0"/>
              <a:t> handles data preprocessing, feature selection, and identifies the most suitable machine learning algorithm. Based on performance, an </a:t>
            </a:r>
            <a:r>
              <a:rPr lang="en-US" sz="1800" b="1" dirty="0" err="1"/>
              <a:t>XGBoost</a:t>
            </a:r>
            <a:r>
              <a:rPr lang="en-US" sz="1800" b="1" dirty="0"/>
              <a:t> multiclass classification model</a:t>
            </a:r>
            <a:r>
              <a:rPr lang="en-US" sz="1800" dirty="0"/>
              <a:t> is selected and trained.</a:t>
            </a:r>
          </a:p>
          <a:p>
            <a:r>
              <a:rPr lang="en-US" sz="1800" dirty="0"/>
              <a:t>Once trained, the model is deployed on </a:t>
            </a:r>
            <a:r>
              <a:rPr lang="en-US" sz="1800" b="1" dirty="0"/>
              <a:t>IBM Watson Machine Learning</a:t>
            </a:r>
            <a:r>
              <a:rPr lang="en-US" sz="1800" dirty="0"/>
              <a:t>. When new project details are given as input, the system predicts the appropriate </a:t>
            </a:r>
            <a:r>
              <a:rPr lang="en-US" sz="1800" b="1" dirty="0"/>
              <a:t>PMGSY scheme</a:t>
            </a:r>
            <a:r>
              <a:rPr lang="en-US" sz="1800" dirty="0"/>
              <a:t> along with a confidence score, helping users understand how certain the model is about its prediction.</a:t>
            </a:r>
          </a:p>
          <a:p>
            <a:r>
              <a:rPr lang="en-US" sz="1800" dirty="0"/>
              <a:t>The model is tested using sample project records, and the results show accurate classification with high confidence levels. This solution significantly reduces manual effort, minimizes classification errors, and supports better planning and monitoring of rural infrastructure projects under PMGSY.</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IN" sz="4400" b="1" dirty="0">
                <a:solidFill>
                  <a:schemeClr val="accent1"/>
                </a:solidFill>
                <a:latin typeface="Arial"/>
                <a:ea typeface="+mj-lt"/>
                <a:cs typeface="Arial"/>
              </a:rPr>
              <a:t>TECHNOLOGY USED</a:t>
            </a:r>
            <a:endParaRPr lang="en-US" sz="4400" b="1" dirty="0">
              <a:solidFill>
                <a:schemeClr val="accent1"/>
              </a:solidFill>
              <a:latin typeface="Arial"/>
              <a:ea typeface="+mj-lt"/>
              <a:cs typeface="Arial"/>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lstStyle/>
          <a:p>
            <a:pPr marL="305435" indent="-305435"/>
            <a:r>
              <a:rPr lang="en-IN" sz="2000" b="1" dirty="0">
                <a:solidFill>
                  <a:srgbClr val="0F0F0F"/>
                </a:solidFill>
              </a:rPr>
              <a:t>IBM Cloud Lite Services</a:t>
            </a:r>
          </a:p>
          <a:p>
            <a:pPr marL="305435" indent="-305435"/>
            <a:r>
              <a:rPr lang="en-IN" sz="2000" b="1" dirty="0">
                <a:solidFill>
                  <a:srgbClr val="0F0F0F"/>
                </a:solidFill>
              </a:rPr>
              <a:t>Machine Learning (Supervised Learning)</a:t>
            </a:r>
          </a:p>
          <a:p>
            <a:pPr marL="305435" indent="-305435"/>
            <a:r>
              <a:rPr lang="en-IN" sz="2000" b="1" dirty="0">
                <a:solidFill>
                  <a:srgbClr val="0F0F0F"/>
                </a:solidFill>
              </a:rPr>
              <a:t>Multiclass Classification</a:t>
            </a:r>
          </a:p>
          <a:p>
            <a:pPr marL="305435" indent="-305435"/>
            <a:r>
              <a:rPr lang="en-IN" sz="2000" b="1" dirty="0">
                <a:solidFill>
                  <a:srgbClr val="0F0F0F"/>
                </a:solidFill>
              </a:rPr>
              <a:t>Data Preprocessing &amp; Feature Engineering</a:t>
            </a:r>
          </a:p>
          <a:p>
            <a:pPr marL="305435" indent="-305435"/>
            <a:r>
              <a:rPr lang="en-IN" sz="2000" b="1" dirty="0">
                <a:solidFill>
                  <a:srgbClr val="0F0F0F"/>
                </a:solidFill>
              </a:rPr>
              <a:t>IBM </a:t>
            </a:r>
            <a:r>
              <a:rPr lang="en-IN" sz="2000" b="1" dirty="0" err="1">
                <a:solidFill>
                  <a:srgbClr val="0F0F0F"/>
                </a:solidFill>
              </a:rPr>
              <a:t>AutoAI</a:t>
            </a:r>
            <a:endParaRPr lang="en-IN" sz="2000" b="1" dirty="0">
              <a:solidFill>
                <a:srgbClr val="0F0F0F"/>
              </a:solidFill>
            </a:endParaRPr>
          </a:p>
          <a:p>
            <a:pPr marL="305435" indent="-305435"/>
            <a:r>
              <a:rPr lang="en-IN" sz="2000" b="1" dirty="0" err="1">
                <a:solidFill>
                  <a:srgbClr val="0F0F0F"/>
                </a:solidFill>
              </a:rPr>
              <a:t>XGBoost</a:t>
            </a:r>
            <a:r>
              <a:rPr lang="en-IN" sz="2000" b="1" dirty="0">
                <a:solidFill>
                  <a:srgbClr val="0F0F0F"/>
                </a:solidFill>
              </a:rPr>
              <a:t> / Random Forest Classifier</a:t>
            </a:r>
          </a:p>
          <a:p>
            <a:pPr marL="305435" indent="-305435"/>
            <a:endParaRPr lang="en-IN" sz="1800"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IN" sz="4400" b="1" dirty="0">
                <a:solidFill>
                  <a:schemeClr val="accent1"/>
                </a:solidFill>
                <a:latin typeface="Arial"/>
                <a:ea typeface="+mj-lt"/>
                <a:cs typeface="Arial"/>
              </a:rPr>
              <a:t>IBM CLOUD SERVICES USED</a:t>
            </a:r>
            <a:endParaRPr lang="en-US" sz="4400" b="1" dirty="0">
              <a:solidFill>
                <a:schemeClr val="accent1"/>
              </a:solidFill>
              <a:latin typeface="Arial"/>
              <a:ea typeface="+mj-lt"/>
              <a:cs typeface="Arial"/>
            </a:endParaRPr>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rmAutofit/>
          </a:bodyPr>
          <a:lstStyle/>
          <a:p>
            <a:pPr marL="0" indent="0">
              <a:buNone/>
            </a:pPr>
            <a:endParaRPr lang="en-IN" sz="1400" b="1" dirty="0">
              <a:ea typeface="+mn-lt"/>
              <a:cs typeface="+mn-lt"/>
            </a:endParaRPr>
          </a:p>
          <a:p>
            <a:pPr marL="305435" indent="-305435"/>
            <a:r>
              <a:rPr lang="en-IN" sz="2000" b="1" dirty="0"/>
              <a:t>IBM Watsonx.ai Studio – Model development and </a:t>
            </a:r>
            <a:r>
              <a:rPr lang="en-IN" sz="2000" b="1" dirty="0" err="1"/>
              <a:t>experimentationIBM</a:t>
            </a:r>
            <a:r>
              <a:rPr lang="en-IN" sz="2000" b="1" dirty="0"/>
              <a:t> </a:t>
            </a:r>
          </a:p>
          <a:p>
            <a:pPr marL="305435" indent="-305435"/>
            <a:r>
              <a:rPr lang="en-IN" sz="2000" b="1" dirty="0"/>
              <a:t>Watsonx.ai Runtime – Model execution</a:t>
            </a:r>
          </a:p>
          <a:p>
            <a:pPr marL="305435" indent="-305435"/>
            <a:r>
              <a:rPr lang="en-IN" sz="2000" b="1" dirty="0"/>
              <a:t>IBM </a:t>
            </a:r>
            <a:r>
              <a:rPr lang="en-IN" sz="2000" b="1" dirty="0" err="1"/>
              <a:t>AutoAI</a:t>
            </a:r>
            <a:r>
              <a:rPr lang="en-IN" sz="2000" b="1" dirty="0"/>
              <a:t> – Automated model selection and optimization</a:t>
            </a:r>
          </a:p>
          <a:p>
            <a:pPr marL="305435" indent="-305435"/>
            <a:r>
              <a:rPr lang="en-IN" sz="2000" b="1" dirty="0"/>
              <a:t>IBM Cloud Object Storage – Dataset storage</a:t>
            </a:r>
          </a:p>
          <a:p>
            <a:pPr marL="305435" indent="-305435"/>
            <a:r>
              <a:rPr lang="en-IN" sz="2000" b="1" dirty="0"/>
              <a:t>IBM Watson Machine Learning – Model deployment</a:t>
            </a:r>
          </a:p>
          <a:p>
            <a:pPr marL="305435" indent="-305435"/>
            <a:endParaRPr lang="en-IN"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indent="0">
              <a:buNone/>
            </a:pPr>
            <a:r>
              <a:rPr lang="en-IN" sz="2400" dirty="0">
                <a:solidFill>
                  <a:srgbClr val="0F0F0F"/>
                </a:solidFill>
                <a:ea typeface="+mn-lt"/>
                <a:cs typeface="+mn-lt"/>
              </a:rPr>
              <a:t>Present the results of the machine learning model in terms of its accuracy and effectiveness in predicting bike counts. Include visualizations and comparisons between predicted and actual counts to highlight the model's performance.</a:t>
            </a:r>
            <a:endParaRPr lang="en-IN" sz="2400" dirty="0"/>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IN" sz="2000" dirty="0">
                <a:solidFill>
                  <a:srgbClr val="0F0F0F"/>
                </a:solidFill>
                <a:ea typeface="+mn-lt"/>
                <a:cs typeface="+mn-lt"/>
              </a:rPr>
              <a:t>Summarize the findings and discuss the effectiveness of the proposed solution. Highlight any challenges encountered during the implementation and potential improvements. Emphasize the importance of accurate bike count predictions for ensuring a stable supply of rental bikes in urban areas.</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endParaRPr lang="en-US" sz="2000" b="1" dirty="0"/>
          </a:p>
          <a:p>
            <a:pPr marL="305435" indent="-305435"/>
            <a:r>
              <a:rPr lang="en-US" sz="2000" dirty="0">
                <a:ea typeface="+mn-lt"/>
                <a:cs typeface="+mn-lt"/>
              </a:rPr>
              <a:t>Discuss potential enhancements and expansions for the system. This could include incorporating additional data sources, optimizing the algorithm for better performance, and expanding the system to cover multiple cities or regions. Consider the integration of emerging technologies such as edge computing or advanced machine learning techniques.</a:t>
            </a:r>
            <a:endParaRPr lang="en-US" sz="2000" dirty="0"/>
          </a:p>
          <a:p>
            <a:pPr marL="305435" indent="-305435"/>
            <a:endParaRPr lang="en-US"/>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dirty="0">
                <a:solidFill>
                  <a:srgbClr val="0F0F0F"/>
                </a:solidFill>
                <a:ea typeface="+mn-lt"/>
                <a:cs typeface="+mn-lt"/>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buNone/>
            </a:pPr>
            <a:r>
              <a:rPr lang="en-US" sz="2400" dirty="0">
                <a:solidFill>
                  <a:srgbClr val="0F0F0F"/>
                </a:solidFill>
                <a:ea typeface="+mn-lt"/>
                <a:cs typeface="+mn-lt"/>
              </a:rPr>
              <a:t>The Pradhan Mantri Gram Sadak Yojana (PMGSY) is made up of several schemes, including PMGSY-I, PMGSY-II, and RCPLWEA. Each scheme has its own goals, financing sources, and methods of </a:t>
            </a:r>
            <a:r>
              <a:rPr lang="en-US" sz="2400" dirty="0" err="1">
                <a:solidFill>
                  <a:srgbClr val="0F0F0F"/>
                </a:solidFill>
                <a:ea typeface="+mn-lt"/>
                <a:cs typeface="+mn-lt"/>
              </a:rPr>
              <a:t>implementation.As</a:t>
            </a:r>
            <a:r>
              <a:rPr lang="en-US" sz="2400" dirty="0">
                <a:solidFill>
                  <a:srgbClr val="0F0F0F"/>
                </a:solidFill>
                <a:ea typeface="+mn-lt"/>
                <a:cs typeface="+mn-lt"/>
              </a:rPr>
              <a:t> thousands of rural road and bridge projects are approved and carried out throughout India, it becomes laborious, prone to mistakes, and inefficient to manually classify each project under the appropriate PMGSY </a:t>
            </a:r>
            <a:r>
              <a:rPr lang="en-US" sz="2400" dirty="0" err="1">
                <a:solidFill>
                  <a:srgbClr val="0F0F0F"/>
                </a:solidFill>
                <a:ea typeface="+mn-lt"/>
                <a:cs typeface="+mn-lt"/>
              </a:rPr>
              <a:t>scheme.Misclassification</a:t>
            </a:r>
            <a:r>
              <a:rPr lang="en-US" sz="2400" dirty="0">
                <a:solidFill>
                  <a:srgbClr val="0F0F0F"/>
                </a:solidFill>
                <a:ea typeface="+mn-lt"/>
                <a:cs typeface="+mn-lt"/>
              </a:rPr>
              <a:t> can cause problems with impact assessment, budget misallocation, and monitoring.</a:t>
            </a:r>
            <a:endParaRPr lang="en-IN" sz="2400" dirty="0"/>
          </a:p>
        </p:txBody>
      </p:sp>
    </p:spTree>
    <p:extLst>
      <p:ext uri="{BB962C8B-B14F-4D97-AF65-F5344CB8AC3E}">
        <p14:creationId xmlns:p14="http://schemas.microsoft.com/office/powerpoint/2010/main" val="1031039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r>
              <a:rPr lang="en-US" sz="1800" dirty="0"/>
              <a:t>The proposed solution focuses on making the classification of PMGSY infrastructure projects </a:t>
            </a:r>
            <a:r>
              <a:rPr lang="en-US" sz="1800" b="1" dirty="0"/>
              <a:t>simple, fast, and reliable</a:t>
            </a:r>
            <a:r>
              <a:rPr lang="en-US" sz="1800" dirty="0"/>
              <a:t> using machine learning on IBM Cloud.</a:t>
            </a:r>
          </a:p>
          <a:p>
            <a:r>
              <a:rPr lang="en-US" sz="1800" dirty="0"/>
              <a:t>Instead of manually analyzing each rural road or bridge project, this system learns from past PMGSY project data and automatically identifies the correct scheme under which a project belongs. The model is trained using key project details such as road length, sanctioned cost, funding distribution, and year of approval.</a:t>
            </a:r>
          </a:p>
          <a:p>
            <a:r>
              <a:rPr lang="en-US" sz="1800" dirty="0"/>
              <a:t>Using </a:t>
            </a:r>
            <a:r>
              <a:rPr lang="en-US" sz="1800" b="1" dirty="0"/>
              <a:t>IBM Watsonx.ai Studio and </a:t>
            </a:r>
            <a:r>
              <a:rPr lang="en-US" sz="1800" b="1" dirty="0" err="1"/>
              <a:t>AutoAI</a:t>
            </a:r>
            <a:r>
              <a:rPr lang="en-US" sz="1800" dirty="0"/>
              <a:t>, the dataset is uploaded and the model is trained without complex manual coding. </a:t>
            </a:r>
            <a:r>
              <a:rPr lang="en-US" sz="1800" dirty="0" err="1"/>
              <a:t>AutoAI</a:t>
            </a:r>
            <a:r>
              <a:rPr lang="en-US" sz="1800" dirty="0"/>
              <a:t> handles data preprocessing, feature selection, and identifies the most suitable machine learning algorithm. Based on performance, an </a:t>
            </a:r>
            <a:r>
              <a:rPr lang="en-US" sz="1800" b="1" dirty="0" err="1"/>
              <a:t>XGBoost</a:t>
            </a:r>
            <a:r>
              <a:rPr lang="en-US" sz="1800" b="1" dirty="0"/>
              <a:t> multiclass classification model</a:t>
            </a:r>
            <a:r>
              <a:rPr lang="en-US" sz="1800" dirty="0"/>
              <a:t> is selected and trained.</a:t>
            </a:r>
          </a:p>
          <a:p>
            <a:r>
              <a:rPr lang="en-US" sz="1800" dirty="0"/>
              <a:t>Once trained, the model is deployed on </a:t>
            </a:r>
            <a:r>
              <a:rPr lang="en-US" sz="1800" b="1" dirty="0"/>
              <a:t>IBM Watson Machine Learning</a:t>
            </a:r>
            <a:r>
              <a:rPr lang="en-US" sz="1800" dirty="0"/>
              <a:t>. When new project details are given as input, the system predicts the appropriate </a:t>
            </a:r>
            <a:r>
              <a:rPr lang="en-US" sz="1800" b="1" dirty="0"/>
              <a:t>PMGSY scheme</a:t>
            </a:r>
            <a:r>
              <a:rPr lang="en-US" sz="1800" dirty="0"/>
              <a:t> along with a confidence score, helping users understand how certain the model is about its prediction.</a:t>
            </a:r>
          </a:p>
          <a:p>
            <a:r>
              <a:rPr lang="en-US" sz="1800" dirty="0"/>
              <a:t>The model is tested using sample project records, and the results show accurate classification with high confidence levels. This solution significantly reduces manual effort, minimizes classification errors, and supports better planning and monitoring of rural infrastructure projects under PMGSY.</a:t>
            </a:r>
          </a:p>
        </p:txBody>
      </p:sp>
    </p:spTree>
    <p:extLst>
      <p:ext uri="{BB962C8B-B14F-4D97-AF65-F5344CB8AC3E}">
        <p14:creationId xmlns:p14="http://schemas.microsoft.com/office/powerpoint/2010/main" val="4108850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IN" sz="4400" b="1" dirty="0">
                <a:solidFill>
                  <a:schemeClr val="accent1"/>
                </a:solidFill>
                <a:latin typeface="Arial"/>
                <a:ea typeface="+mj-lt"/>
                <a:cs typeface="Arial"/>
              </a:rPr>
              <a:t>TECHNOLOGY USED</a:t>
            </a:r>
            <a:endParaRPr lang="en-US" sz="4400" b="1" dirty="0">
              <a:solidFill>
                <a:schemeClr val="accent1"/>
              </a:solidFill>
              <a:latin typeface="Arial"/>
              <a:ea typeface="+mj-lt"/>
              <a:cs typeface="Arial"/>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lstStyle/>
          <a:p>
            <a:pPr marL="305435" indent="-305435"/>
            <a:r>
              <a:rPr lang="en-IN" sz="2000" b="1" dirty="0">
                <a:solidFill>
                  <a:srgbClr val="0F0F0F"/>
                </a:solidFill>
              </a:rPr>
              <a:t>IBM Cloud Lite Services</a:t>
            </a:r>
          </a:p>
          <a:p>
            <a:pPr marL="305435" indent="-305435"/>
            <a:r>
              <a:rPr lang="en-IN" sz="2000" b="1" dirty="0">
                <a:solidFill>
                  <a:srgbClr val="0F0F0F"/>
                </a:solidFill>
              </a:rPr>
              <a:t>Machine Learning (Supervised Learning)</a:t>
            </a:r>
          </a:p>
          <a:p>
            <a:pPr marL="305435" indent="-305435"/>
            <a:r>
              <a:rPr lang="en-IN" sz="2000" b="1" dirty="0">
                <a:solidFill>
                  <a:srgbClr val="0F0F0F"/>
                </a:solidFill>
              </a:rPr>
              <a:t>Multiclass Classification</a:t>
            </a:r>
          </a:p>
          <a:p>
            <a:pPr marL="305435" indent="-305435"/>
            <a:r>
              <a:rPr lang="en-IN" sz="2000" b="1" dirty="0">
                <a:solidFill>
                  <a:srgbClr val="0F0F0F"/>
                </a:solidFill>
              </a:rPr>
              <a:t>Data Preprocessing &amp; Feature Engineering</a:t>
            </a:r>
          </a:p>
          <a:p>
            <a:pPr marL="305435" indent="-305435"/>
            <a:r>
              <a:rPr lang="en-IN" sz="2000" b="1" dirty="0">
                <a:solidFill>
                  <a:srgbClr val="0F0F0F"/>
                </a:solidFill>
              </a:rPr>
              <a:t>IBM </a:t>
            </a:r>
            <a:r>
              <a:rPr lang="en-IN" sz="2000" b="1" dirty="0" err="1">
                <a:solidFill>
                  <a:srgbClr val="0F0F0F"/>
                </a:solidFill>
              </a:rPr>
              <a:t>AutoAI</a:t>
            </a:r>
            <a:endParaRPr lang="en-IN" sz="2000" b="1" dirty="0">
              <a:solidFill>
                <a:srgbClr val="0F0F0F"/>
              </a:solidFill>
            </a:endParaRPr>
          </a:p>
          <a:p>
            <a:pPr marL="305435" indent="-305435"/>
            <a:r>
              <a:rPr lang="en-IN" sz="2000" b="1" dirty="0" err="1">
                <a:solidFill>
                  <a:srgbClr val="0F0F0F"/>
                </a:solidFill>
              </a:rPr>
              <a:t>XGBoost</a:t>
            </a:r>
            <a:r>
              <a:rPr lang="en-IN" sz="2000" b="1" dirty="0">
                <a:solidFill>
                  <a:srgbClr val="0F0F0F"/>
                </a:solidFill>
              </a:rPr>
              <a:t> / Random Forest Classifier</a:t>
            </a:r>
          </a:p>
          <a:p>
            <a:pPr marL="305435" indent="-305435"/>
            <a:endParaRPr lang="en-IN" sz="1800" b="1" dirty="0">
              <a:solidFill>
                <a:srgbClr val="0F0F0F"/>
              </a:solidFill>
            </a:endParaRPr>
          </a:p>
        </p:txBody>
      </p:sp>
    </p:spTree>
    <p:extLst>
      <p:ext uri="{BB962C8B-B14F-4D97-AF65-F5344CB8AC3E}">
        <p14:creationId xmlns:p14="http://schemas.microsoft.com/office/powerpoint/2010/main" val="3399609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IN" sz="4400" b="1" dirty="0">
                <a:solidFill>
                  <a:schemeClr val="accent1"/>
                </a:solidFill>
                <a:latin typeface="Arial"/>
                <a:ea typeface="+mj-lt"/>
                <a:cs typeface="Arial"/>
              </a:rPr>
              <a:t>IBM CLOUD SERVICES USED</a:t>
            </a:r>
            <a:endParaRPr lang="en-US" sz="4400" b="1" dirty="0">
              <a:solidFill>
                <a:schemeClr val="accent1"/>
              </a:solidFill>
              <a:latin typeface="Arial"/>
              <a:ea typeface="+mj-lt"/>
              <a:cs typeface="Arial"/>
            </a:endParaRPr>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rmAutofit/>
          </a:bodyPr>
          <a:lstStyle/>
          <a:p>
            <a:pPr marL="0" indent="0">
              <a:buNone/>
            </a:pPr>
            <a:endParaRPr lang="en-IN" sz="1400" b="1" dirty="0">
              <a:ea typeface="+mn-lt"/>
              <a:cs typeface="+mn-lt"/>
            </a:endParaRPr>
          </a:p>
          <a:p>
            <a:pPr marL="305435" indent="-305435"/>
            <a:r>
              <a:rPr lang="en-IN" sz="2000" b="1" dirty="0"/>
              <a:t>IBM Watsonx.ai Studio – Model development and </a:t>
            </a:r>
            <a:r>
              <a:rPr lang="en-IN" sz="2000" b="1" dirty="0" err="1"/>
              <a:t>experimentationIBM</a:t>
            </a:r>
            <a:r>
              <a:rPr lang="en-IN" sz="2000" b="1" dirty="0"/>
              <a:t> </a:t>
            </a:r>
          </a:p>
          <a:p>
            <a:pPr marL="305435" indent="-305435"/>
            <a:r>
              <a:rPr lang="en-IN" sz="2000" b="1" dirty="0"/>
              <a:t>Watsonx.ai Runtime – Model execution</a:t>
            </a:r>
          </a:p>
          <a:p>
            <a:pPr marL="305435" indent="-305435"/>
            <a:r>
              <a:rPr lang="en-IN" sz="2000" b="1" dirty="0"/>
              <a:t>IBM </a:t>
            </a:r>
            <a:r>
              <a:rPr lang="en-IN" sz="2000" b="1" dirty="0" err="1"/>
              <a:t>AutoAI</a:t>
            </a:r>
            <a:r>
              <a:rPr lang="en-IN" sz="2000" b="1" dirty="0"/>
              <a:t> – Automated model selection and optimization</a:t>
            </a:r>
          </a:p>
          <a:p>
            <a:pPr marL="305435" indent="-305435"/>
            <a:r>
              <a:rPr lang="en-IN" sz="2000" b="1" dirty="0"/>
              <a:t>IBM Cloud Object Storage – Dataset storage</a:t>
            </a:r>
          </a:p>
          <a:p>
            <a:pPr marL="305435" indent="-305435"/>
            <a:r>
              <a:rPr lang="en-IN" sz="2000" b="1" dirty="0"/>
              <a:t>IBM Watson Machine Learning – Model deployment</a:t>
            </a:r>
          </a:p>
          <a:p>
            <a:pPr marL="305435" indent="-305435"/>
            <a:endParaRPr lang="en-IN" dirty="0"/>
          </a:p>
        </p:txBody>
      </p:sp>
    </p:spTree>
    <p:extLst>
      <p:ext uri="{BB962C8B-B14F-4D97-AF65-F5344CB8AC3E}">
        <p14:creationId xmlns:p14="http://schemas.microsoft.com/office/powerpoint/2010/main" val="2359003442"/>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39</TotalTime>
  <Words>1006</Words>
  <Application>Microsoft Office PowerPoint</Application>
  <PresentationFormat>Widescreen</PresentationFormat>
  <Paragraphs>67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Franklin Gothic Book</vt:lpstr>
      <vt:lpstr>Franklin Gothic Demi</vt:lpstr>
      <vt:lpstr>Wingdings 2</vt:lpstr>
      <vt:lpstr>DividendVTI</vt:lpstr>
      <vt:lpstr>PowerPoint Presentation</vt:lpstr>
      <vt:lpstr>OUTLINE</vt:lpstr>
      <vt:lpstr>Problem Statement</vt:lpstr>
      <vt:lpstr>Proposed Solution</vt:lpstr>
      <vt:lpstr>TECHNOLOGY USED</vt:lpstr>
      <vt:lpstr>IBM CLOUD SERVICES USED</vt:lpstr>
      <vt:lpstr>Result</vt:lpstr>
      <vt:lpstr>Conclusion</vt:lpstr>
      <vt:lpstr>PowerPoint Presentation</vt:lpstr>
      <vt:lpstr>References</vt:lpstr>
      <vt:lpstr>Problem Statement</vt:lpstr>
      <vt:lpstr>Proposed Solution</vt:lpstr>
      <vt:lpstr>TECHNOLOGY USED</vt:lpstr>
      <vt:lpstr>IBM CLOUD SERVICES USED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Dyutishmaan Das</cp:lastModifiedBy>
  <cp:revision>31</cp:revision>
  <dcterms:created xsi:type="dcterms:W3CDTF">2021-05-26T16:50:10Z</dcterms:created>
  <dcterms:modified xsi:type="dcterms:W3CDTF">2026-02-07T07:57:18Z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